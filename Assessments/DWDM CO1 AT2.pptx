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3D91FE1-7212-43B1-9E61-21DB7086C15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CC64FF3-46E2-47FE-8064-18EB009B0C3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C39879F-40A7-44C9-A2FE-5E4C33CB37B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125CBE2-BE54-4B42-B35C-96FBE280AE7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DBA0986-9735-479A-9E6B-285DAEA5FA5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8986908-D2B6-42CF-9466-A28D6EAEFA4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023D1C5-58F8-4D4C-996D-3E134492596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051E37B-4147-43D0-8CE2-363C08E7338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430C47A-2F38-420B-97C5-A97933D7601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21F00F2-34DC-4DEC-BF0E-718F24F613D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58F0E0D-0629-45E3-96ED-EAAE9D6F512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ounded Rectangle 1"/>
          <p:cNvSpPr/>
          <p:nvPr/>
        </p:nvSpPr>
        <p:spPr>
          <a:xfrm>
            <a:off x="8686800" y="1005840"/>
            <a:ext cx="2102760" cy="210276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ounded Rectangle 2"/>
          <p:cNvSpPr/>
          <p:nvPr/>
        </p:nvSpPr>
        <p:spPr>
          <a:xfrm>
            <a:off x="9646920" y="2011680"/>
            <a:ext cx="1554120" cy="1554120"/>
          </a:xfrm>
          <a:prstGeom prst="roundRect">
            <a:avLst>
              <a:gd name="adj" fmla="val 16667"/>
            </a:avLst>
          </a:prstGeom>
          <a:solidFill>
            <a:srgbClr val="36D3D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Rounded Rectangle 3"/>
          <p:cNvSpPr/>
          <p:nvPr/>
        </p:nvSpPr>
        <p:spPr>
          <a:xfrm>
            <a:off x="8046720" y="2743200"/>
            <a:ext cx="1371240" cy="1371240"/>
          </a:xfrm>
          <a:prstGeom prst="roundRect">
            <a:avLst>
              <a:gd name="adj" fmla="val 16667"/>
            </a:avLst>
          </a:prstGeom>
          <a:solidFill>
            <a:srgbClr val="FFBE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731520" y="640080"/>
            <a:ext cx="713196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36D3D0"/>
                </a:solidFill>
                <a:effectLst/>
                <a:uFillTx/>
                <a:latin typeface="Aptos"/>
              </a:rPr>
              <a:t>SIMATS ENGINEERING  |  CSA1601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731520" y="1508760"/>
            <a:ext cx="749772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DATA WAREHOUSING</a:t>
            </a:r>
            <a:br>
              <a:rPr sz="3400"/>
            </a:br>
            <a:r>
              <a:rPr lang="en-US" sz="34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&amp; DATA MINING</a:t>
            </a:r>
            <a:endParaRPr lang="en-IN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777240" y="3246120"/>
            <a:ext cx="6583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BE5C"/>
                </a:solidFill>
                <a:effectLst/>
                <a:uFillTx/>
                <a:latin typeface="Aptos"/>
              </a:rPr>
              <a:t>Technical Presentation</a:t>
            </a:r>
            <a:endParaRPr lang="en-IN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777240" y="4069080"/>
            <a:ext cx="6857640" cy="58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B2C0D5"/>
                </a:solidFill>
                <a:effectLst/>
                <a:uFillTx/>
                <a:latin typeface="Aptos"/>
              </a:rPr>
              <a:t>Selected topics: Data Warehouse Architecture,OLAP &amp; Data Cubes,Dimensional Modeling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777240" y="5897880"/>
            <a:ext cx="73148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defTabSz="457200"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502920" y="228600"/>
            <a:ext cx="7772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6D3D0"/>
                </a:solidFill>
                <a:effectLst/>
                <a:uFillTx/>
                <a:latin typeface="Aptos"/>
              </a:rPr>
              <a:t>OVERVIEW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10972800" y="228600"/>
            <a:ext cx="685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B2C0D5"/>
                </a:solidFill>
                <a:effectLst/>
                <a:uFillTx/>
                <a:latin typeface="Aptos"/>
              </a:rPr>
              <a:t>02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Rectangle 3"/>
          <p:cNvSpPr/>
          <p:nvPr/>
        </p:nvSpPr>
        <p:spPr>
          <a:xfrm>
            <a:off x="502920" y="658440"/>
            <a:ext cx="11155320" cy="22680"/>
          </a:xfrm>
          <a:prstGeom prst="rect">
            <a:avLst/>
          </a:prstGeom>
          <a:solidFill>
            <a:srgbClr val="36D3D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1960" rIns="90000" bIns="-2196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4"/>
          <p:cNvSpPr/>
          <p:nvPr/>
        </p:nvSpPr>
        <p:spPr>
          <a:xfrm>
            <a:off x="594360" y="896040"/>
            <a:ext cx="10972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Presentation Roadmap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5"/>
          <p:cNvSpPr/>
          <p:nvPr/>
        </p:nvSpPr>
        <p:spPr>
          <a:xfrm>
            <a:off x="640080" y="1536120"/>
            <a:ext cx="10881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36D3D0"/>
                </a:solidFill>
                <a:effectLst/>
                <a:uFillTx/>
                <a:latin typeface="Aptos"/>
              </a:rPr>
              <a:t>Chosen from the focus areas listed in the DWDM Assessment Tool 2 PDF.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Rounded Rectangle 6"/>
          <p:cNvSpPr/>
          <p:nvPr/>
        </p:nvSpPr>
        <p:spPr>
          <a:xfrm>
            <a:off x="685800" y="2057400"/>
            <a:ext cx="10789560" cy="62136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solidFill>
              <a:srgbClr val="30436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45000" r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Topic 1 — Architecture of a Data Warehouse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Rounded Rectangle 7"/>
          <p:cNvSpPr/>
          <p:nvPr/>
        </p:nvSpPr>
        <p:spPr>
          <a:xfrm>
            <a:off x="685800" y="2862000"/>
            <a:ext cx="10789560" cy="62136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solidFill>
              <a:srgbClr val="30436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45000" r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Topic 2 — OLAP and Data Cubes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Rounded Rectangle 8"/>
          <p:cNvSpPr/>
          <p:nvPr/>
        </p:nvSpPr>
        <p:spPr>
          <a:xfrm>
            <a:off x="685800" y="3666600"/>
            <a:ext cx="10789560" cy="62136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solidFill>
              <a:srgbClr val="30436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45000" r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Topic 3 — Dimensional Data Modeling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Rounded Rectangle 9"/>
          <p:cNvSpPr/>
          <p:nvPr/>
        </p:nvSpPr>
        <p:spPr>
          <a:xfrm>
            <a:off x="685800" y="4471560"/>
            <a:ext cx="10789560" cy="62136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solidFill>
              <a:srgbClr val="30436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45000" r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Each topic includes concepts, process/architecture, an example, tools, and a conclusion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1"/>
          <p:cNvSpPr/>
          <p:nvPr/>
        </p:nvSpPr>
        <p:spPr>
          <a:xfrm>
            <a:off x="502920" y="228600"/>
            <a:ext cx="7772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6D3D0"/>
                </a:solidFill>
                <a:effectLst/>
                <a:uFillTx/>
                <a:latin typeface="Aptos"/>
              </a:rPr>
              <a:t>TOPIC 1 • DATA WAREHOUSE ARCHITECTURE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2"/>
          <p:cNvSpPr/>
          <p:nvPr/>
        </p:nvSpPr>
        <p:spPr>
          <a:xfrm>
            <a:off x="10972800" y="228600"/>
            <a:ext cx="685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B2C0D5"/>
                </a:solidFill>
                <a:effectLst/>
                <a:uFillTx/>
                <a:latin typeface="Aptos"/>
              </a:rPr>
              <a:t>03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Rectangle 3"/>
          <p:cNvSpPr/>
          <p:nvPr/>
        </p:nvSpPr>
        <p:spPr>
          <a:xfrm>
            <a:off x="502920" y="658440"/>
            <a:ext cx="11155320" cy="22680"/>
          </a:xfrm>
          <a:prstGeom prst="rect">
            <a:avLst/>
          </a:prstGeom>
          <a:solidFill>
            <a:srgbClr val="36D3D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1960" rIns="90000" bIns="-2196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4"/>
          <p:cNvSpPr/>
          <p:nvPr/>
        </p:nvSpPr>
        <p:spPr>
          <a:xfrm>
            <a:off x="594360" y="896040"/>
            <a:ext cx="10972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What Is a Data Warehouse?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5"/>
          <p:cNvSpPr/>
          <p:nvPr/>
        </p:nvSpPr>
        <p:spPr>
          <a:xfrm>
            <a:off x="640080" y="1536120"/>
            <a:ext cx="10881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36D3D0"/>
                </a:solidFill>
                <a:effectLst/>
                <a:uFillTx/>
                <a:latin typeface="Aptos"/>
              </a:rPr>
              <a:t>Introduction and importance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Rounded Rectangle 6"/>
          <p:cNvSpPr/>
          <p:nvPr/>
        </p:nvSpPr>
        <p:spPr>
          <a:xfrm>
            <a:off x="685800" y="2057400"/>
            <a:ext cx="10789560" cy="62136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solidFill>
              <a:srgbClr val="30436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45000" r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A data warehouse is a central repository of integrated historical data for analysis and decision-making.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Rounded Rectangle 7"/>
          <p:cNvSpPr/>
          <p:nvPr/>
        </p:nvSpPr>
        <p:spPr>
          <a:xfrm>
            <a:off x="685800" y="2862000"/>
            <a:ext cx="10789560" cy="62136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solidFill>
              <a:srgbClr val="30436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45000" r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It combines information from multiple sources such as ERP, CRM, spreadsheets, and operational databases.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Rounded Rectangle 8"/>
          <p:cNvSpPr/>
          <p:nvPr/>
        </p:nvSpPr>
        <p:spPr>
          <a:xfrm>
            <a:off x="685800" y="3666600"/>
            <a:ext cx="10789560" cy="62136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solidFill>
              <a:srgbClr val="30436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45000" r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It provides a consistent view of business data for reporting, OLAP, and data mining.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Rounded Rectangle 9"/>
          <p:cNvSpPr/>
          <p:nvPr/>
        </p:nvSpPr>
        <p:spPr>
          <a:xfrm>
            <a:off x="685800" y="4471560"/>
            <a:ext cx="10789560" cy="62136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solidFill>
              <a:srgbClr val="30436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45000" r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Unlike operational databases, it is designed mainly for analytical queries.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1"/>
          <p:cNvSpPr/>
          <p:nvPr/>
        </p:nvSpPr>
        <p:spPr>
          <a:xfrm>
            <a:off x="502920" y="228600"/>
            <a:ext cx="7772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6D3D0"/>
                </a:solidFill>
                <a:effectLst/>
                <a:uFillTx/>
                <a:latin typeface="Aptos"/>
              </a:rPr>
              <a:t>TOPIC 1 • ARCHITECTURE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2"/>
          <p:cNvSpPr/>
          <p:nvPr/>
        </p:nvSpPr>
        <p:spPr>
          <a:xfrm>
            <a:off x="10972800" y="228600"/>
            <a:ext cx="685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B2C0D5"/>
                </a:solidFill>
                <a:effectLst/>
                <a:uFillTx/>
                <a:latin typeface="Aptos"/>
              </a:rPr>
              <a:t>04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Rectangle 3"/>
          <p:cNvSpPr/>
          <p:nvPr/>
        </p:nvSpPr>
        <p:spPr>
          <a:xfrm>
            <a:off x="502920" y="658440"/>
            <a:ext cx="11155320" cy="22680"/>
          </a:xfrm>
          <a:prstGeom prst="rect">
            <a:avLst/>
          </a:prstGeom>
          <a:solidFill>
            <a:srgbClr val="36D3D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1960" rIns="90000" bIns="-2196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4"/>
          <p:cNvSpPr/>
          <p:nvPr/>
        </p:nvSpPr>
        <p:spPr>
          <a:xfrm>
            <a:off x="594360" y="8960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Three-Tier Data Warehouse Architecture</a:t>
            </a:r>
            <a:endParaRPr lang="en-IN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Rounded Rectangle 5"/>
          <p:cNvSpPr/>
          <p:nvPr/>
        </p:nvSpPr>
        <p:spPr>
          <a:xfrm>
            <a:off x="2397240" y="2240280"/>
            <a:ext cx="2331360" cy="159984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solidFill>
              <a:srgbClr val="36D3D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36D3D0"/>
                </a:solidFill>
                <a:effectLst/>
                <a:uFillTx/>
                <a:latin typeface="Aptos"/>
              </a:rPr>
              <a:t>Bottom Tier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Source systems</a:t>
            </a:r>
            <a:br>
              <a:rPr sz="1200"/>
            </a:br>
            <a:r>
              <a:rPr lang="en-US" sz="12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ETL + warehouse storage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6"/>
          <p:cNvSpPr/>
          <p:nvPr/>
        </p:nvSpPr>
        <p:spPr>
          <a:xfrm>
            <a:off x="4728960" y="2761560"/>
            <a:ext cx="200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BE5C"/>
                </a:solidFill>
                <a:effectLst/>
                <a:uFillTx/>
                <a:latin typeface="Aptos"/>
              </a:rPr>
              <a:t>➜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Rounded Rectangle 7"/>
          <p:cNvSpPr/>
          <p:nvPr/>
        </p:nvSpPr>
        <p:spPr>
          <a:xfrm>
            <a:off x="4929840" y="2240280"/>
            <a:ext cx="2331360" cy="159984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solidFill>
              <a:srgbClr val="36D3D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36D3D0"/>
                </a:solidFill>
                <a:effectLst/>
                <a:uFillTx/>
                <a:latin typeface="Aptos"/>
              </a:rPr>
              <a:t>Middle Tier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OLAP server</a:t>
            </a:r>
            <a:br>
              <a:rPr sz="1200"/>
            </a:br>
            <a:r>
              <a:rPr lang="en-US" sz="12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ROLAP / MOLAP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8"/>
          <p:cNvSpPr/>
          <p:nvPr/>
        </p:nvSpPr>
        <p:spPr>
          <a:xfrm>
            <a:off x="7261560" y="2761560"/>
            <a:ext cx="200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BE5C"/>
                </a:solidFill>
                <a:effectLst/>
                <a:uFillTx/>
                <a:latin typeface="Aptos"/>
              </a:rPr>
              <a:t>➜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Rounded Rectangle 9"/>
          <p:cNvSpPr/>
          <p:nvPr/>
        </p:nvSpPr>
        <p:spPr>
          <a:xfrm>
            <a:off x="7462800" y="2240280"/>
            <a:ext cx="2331360" cy="159984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solidFill>
              <a:srgbClr val="36D3D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36D3D0"/>
                </a:solidFill>
                <a:effectLst/>
                <a:uFillTx/>
                <a:latin typeface="Aptos"/>
              </a:rPr>
              <a:t>Top Tier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BI dashboards</a:t>
            </a:r>
            <a:br>
              <a:rPr sz="1200"/>
            </a:br>
            <a:r>
              <a:rPr lang="en-US" sz="12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Reports and analysis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10"/>
          <p:cNvSpPr/>
          <p:nvPr/>
        </p:nvSpPr>
        <p:spPr>
          <a:xfrm>
            <a:off x="914400" y="4572000"/>
            <a:ext cx="10332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B2C0D5"/>
                </a:solidFill>
                <a:effectLst/>
                <a:uFillTx/>
                <a:latin typeface="Aptos"/>
              </a:rPr>
              <a:t>Data moves from operational sources through ETL into the warehouse, then analytical tools access it.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1"/>
          <p:cNvSpPr/>
          <p:nvPr/>
        </p:nvSpPr>
        <p:spPr>
          <a:xfrm>
            <a:off x="502920" y="228600"/>
            <a:ext cx="7772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6D3D0"/>
                </a:solidFill>
                <a:effectLst/>
                <a:uFillTx/>
                <a:latin typeface="Aptos"/>
              </a:rPr>
              <a:t>TOPIC 1 • PROCESS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2"/>
          <p:cNvSpPr/>
          <p:nvPr/>
        </p:nvSpPr>
        <p:spPr>
          <a:xfrm>
            <a:off x="10972800" y="228600"/>
            <a:ext cx="685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B2C0D5"/>
                </a:solidFill>
                <a:effectLst/>
                <a:uFillTx/>
                <a:latin typeface="Aptos"/>
              </a:rPr>
              <a:t>05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Rectangle 3"/>
          <p:cNvSpPr/>
          <p:nvPr/>
        </p:nvSpPr>
        <p:spPr>
          <a:xfrm>
            <a:off x="502920" y="658440"/>
            <a:ext cx="11155320" cy="22680"/>
          </a:xfrm>
          <a:prstGeom prst="rect">
            <a:avLst/>
          </a:prstGeom>
          <a:solidFill>
            <a:srgbClr val="36D3D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1960" rIns="90000" bIns="-2196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Box 4"/>
          <p:cNvSpPr/>
          <p:nvPr/>
        </p:nvSpPr>
        <p:spPr>
          <a:xfrm>
            <a:off x="594360" y="896040"/>
            <a:ext cx="10972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ETL Process: From Raw Data to Insight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5"/>
          <p:cNvSpPr/>
          <p:nvPr/>
        </p:nvSpPr>
        <p:spPr>
          <a:xfrm>
            <a:off x="640080" y="1536120"/>
            <a:ext cx="10881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36D3D0"/>
                </a:solidFill>
                <a:effectLst/>
                <a:uFillTx/>
                <a:latin typeface="Aptos"/>
              </a:rPr>
              <a:t>Step-by-step process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Rounded Rectangle 6"/>
          <p:cNvSpPr/>
          <p:nvPr/>
        </p:nvSpPr>
        <p:spPr>
          <a:xfrm>
            <a:off x="685800" y="2057400"/>
            <a:ext cx="10789560" cy="62136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solidFill>
              <a:srgbClr val="30436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45000" r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Extract — collect data from databases, files, and external systems.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Rounded Rectangle 7"/>
          <p:cNvSpPr/>
          <p:nvPr/>
        </p:nvSpPr>
        <p:spPr>
          <a:xfrm>
            <a:off x="685800" y="2862000"/>
            <a:ext cx="10789560" cy="62136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solidFill>
              <a:srgbClr val="30436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45000" r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Clean and transform — handle missing values, remove duplicates, standardize formats, and apply business rules.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Rounded Rectangle 8"/>
          <p:cNvSpPr/>
          <p:nvPr/>
        </p:nvSpPr>
        <p:spPr>
          <a:xfrm>
            <a:off x="685800" y="3666600"/>
            <a:ext cx="10789560" cy="62136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solidFill>
              <a:srgbClr val="30436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45000" r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Load — write prepared data into the warehouse using full or incremental loading.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Rounded Rectangle 9"/>
          <p:cNvSpPr/>
          <p:nvPr/>
        </p:nvSpPr>
        <p:spPr>
          <a:xfrm>
            <a:off x="685800" y="4471560"/>
            <a:ext cx="10789560" cy="62136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solidFill>
              <a:srgbClr val="30436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45000" r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Refresh and monitor — schedule updates and record metadata and data lineage.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Box 1"/>
          <p:cNvSpPr/>
          <p:nvPr/>
        </p:nvSpPr>
        <p:spPr>
          <a:xfrm>
            <a:off x="502920" y="228600"/>
            <a:ext cx="7772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6D3D0"/>
                </a:solidFill>
                <a:effectLst/>
                <a:uFillTx/>
                <a:latin typeface="Aptos"/>
              </a:rPr>
              <a:t>TOPIC 1 • EXAMPLE &amp; TOOLS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2"/>
          <p:cNvSpPr/>
          <p:nvPr/>
        </p:nvSpPr>
        <p:spPr>
          <a:xfrm>
            <a:off x="10972800" y="228600"/>
            <a:ext cx="685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B2C0D5"/>
                </a:solidFill>
                <a:effectLst/>
                <a:uFillTx/>
                <a:latin typeface="Aptos"/>
              </a:rPr>
              <a:t>06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Rectangle 3"/>
          <p:cNvSpPr/>
          <p:nvPr/>
        </p:nvSpPr>
        <p:spPr>
          <a:xfrm>
            <a:off x="502920" y="658440"/>
            <a:ext cx="11155320" cy="22680"/>
          </a:xfrm>
          <a:prstGeom prst="rect">
            <a:avLst/>
          </a:prstGeom>
          <a:solidFill>
            <a:srgbClr val="36D3D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1960" rIns="90000" bIns="-2196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4"/>
          <p:cNvSpPr/>
          <p:nvPr/>
        </p:nvSpPr>
        <p:spPr>
          <a:xfrm>
            <a:off x="594360" y="896040"/>
            <a:ext cx="10972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Real-World Example: Retail Chain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5"/>
          <p:cNvSpPr/>
          <p:nvPr/>
        </p:nvSpPr>
        <p:spPr>
          <a:xfrm>
            <a:off x="640080" y="1536120"/>
            <a:ext cx="10881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36D3D0"/>
                </a:solidFill>
                <a:effectLst/>
                <a:uFillTx/>
                <a:latin typeface="Aptos"/>
              </a:rPr>
              <a:t>Use case and applicable tools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Rounded Rectangle 6"/>
          <p:cNvSpPr/>
          <p:nvPr/>
        </p:nvSpPr>
        <p:spPr>
          <a:xfrm>
            <a:off x="685800" y="2057400"/>
            <a:ext cx="10789560" cy="62136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solidFill>
              <a:srgbClr val="30436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45000" r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Problem: stores, e-commerce, and suppliers keep separate records, making reports inconsistent.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Rounded Rectangle 7"/>
          <p:cNvSpPr/>
          <p:nvPr/>
        </p:nvSpPr>
        <p:spPr>
          <a:xfrm>
            <a:off x="685800" y="2862000"/>
            <a:ext cx="10789560" cy="62136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solidFill>
              <a:srgbClr val="30436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45000" r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Approach: nightly ETL combines sales, product, and inventory data into a central warehouse.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Rounded Rectangle 8"/>
          <p:cNvSpPr/>
          <p:nvPr/>
        </p:nvSpPr>
        <p:spPr>
          <a:xfrm>
            <a:off x="685800" y="3666600"/>
            <a:ext cx="10789560" cy="62136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solidFill>
              <a:srgbClr val="30436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45000" r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Data marts can support separate sales, inventory, and marketing analysis.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Rounded Rectangle 9"/>
          <p:cNvSpPr/>
          <p:nvPr/>
        </p:nvSpPr>
        <p:spPr>
          <a:xfrm>
            <a:off x="685800" y="4471560"/>
            <a:ext cx="10789560" cy="62136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solidFill>
              <a:srgbClr val="30436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45000" r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Tools: KNIME, Pentaho, Apache Hop for ETL; PostgreSQL, BigQuery, or Snowflake for storage.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Box 1"/>
          <p:cNvSpPr/>
          <p:nvPr/>
        </p:nvSpPr>
        <p:spPr>
          <a:xfrm>
            <a:off x="502920" y="228600"/>
            <a:ext cx="7772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6D3D0"/>
                </a:solidFill>
                <a:effectLst/>
                <a:uFillTx/>
                <a:latin typeface="Aptos"/>
              </a:rPr>
              <a:t>TOPIC 2 • OLAP &amp; DATA CUBES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2"/>
          <p:cNvSpPr/>
          <p:nvPr/>
        </p:nvSpPr>
        <p:spPr>
          <a:xfrm>
            <a:off x="10972800" y="228600"/>
            <a:ext cx="685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B2C0D5"/>
                </a:solidFill>
                <a:effectLst/>
                <a:uFillTx/>
                <a:latin typeface="Aptos"/>
              </a:rPr>
              <a:t>07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Rectangle 3"/>
          <p:cNvSpPr/>
          <p:nvPr/>
        </p:nvSpPr>
        <p:spPr>
          <a:xfrm>
            <a:off x="502920" y="658440"/>
            <a:ext cx="11155320" cy="22680"/>
          </a:xfrm>
          <a:prstGeom prst="rect">
            <a:avLst/>
          </a:prstGeom>
          <a:solidFill>
            <a:srgbClr val="36D3D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1960" rIns="90000" bIns="-2196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4"/>
          <p:cNvSpPr/>
          <p:nvPr/>
        </p:nvSpPr>
        <p:spPr>
          <a:xfrm>
            <a:off x="594360" y="896040"/>
            <a:ext cx="10972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OLAP and Data Cubes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5"/>
          <p:cNvSpPr/>
          <p:nvPr/>
        </p:nvSpPr>
        <p:spPr>
          <a:xfrm>
            <a:off x="640080" y="1536120"/>
            <a:ext cx="10881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36D3D0"/>
                </a:solidFill>
                <a:effectLst/>
                <a:uFillTx/>
                <a:latin typeface="Aptos"/>
              </a:rPr>
              <a:t>Core concepts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Rounded Rectangle 6"/>
          <p:cNvSpPr/>
          <p:nvPr/>
        </p:nvSpPr>
        <p:spPr>
          <a:xfrm>
            <a:off x="685800" y="2057400"/>
            <a:ext cx="10789560" cy="62136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solidFill>
              <a:srgbClr val="30436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45000" r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OLAP (Online Analytical Processing) supports fast, interactive analysis across multiple dimensions.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Rounded Rectangle 7"/>
          <p:cNvSpPr/>
          <p:nvPr/>
        </p:nvSpPr>
        <p:spPr>
          <a:xfrm>
            <a:off x="685800" y="2862000"/>
            <a:ext cx="10789560" cy="62136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solidFill>
              <a:srgbClr val="30436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45000" r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A data cube organizes measures, such as sales amount, by dimensions such as product, time, and location.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Rounded Rectangle 8"/>
          <p:cNvSpPr/>
          <p:nvPr/>
        </p:nvSpPr>
        <p:spPr>
          <a:xfrm>
            <a:off x="685800" y="3666600"/>
            <a:ext cx="10789560" cy="62136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solidFill>
              <a:srgbClr val="30436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45000" r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Hierarchies allow analysis at different levels: day → month → quarter → year.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Rounded Rectangle 9"/>
          <p:cNvSpPr/>
          <p:nvPr/>
        </p:nvSpPr>
        <p:spPr>
          <a:xfrm>
            <a:off x="685800" y="4471560"/>
            <a:ext cx="10789560" cy="62136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solidFill>
              <a:srgbClr val="30436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45000" r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Managers and analysts use OLAP to explore trends and compare performance.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Box 1"/>
          <p:cNvSpPr/>
          <p:nvPr/>
        </p:nvSpPr>
        <p:spPr>
          <a:xfrm>
            <a:off x="502920" y="228600"/>
            <a:ext cx="7772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6D3D0"/>
                </a:solidFill>
                <a:effectLst/>
                <a:uFillTx/>
                <a:latin typeface="Aptos"/>
              </a:rPr>
              <a:t>TOPIC 2 • CUBE STRUCTURE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2"/>
          <p:cNvSpPr/>
          <p:nvPr/>
        </p:nvSpPr>
        <p:spPr>
          <a:xfrm>
            <a:off x="10972800" y="228600"/>
            <a:ext cx="685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B2C0D5"/>
                </a:solidFill>
                <a:effectLst/>
                <a:uFillTx/>
                <a:latin typeface="Aptos"/>
              </a:rPr>
              <a:t>08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Rectangle 3"/>
          <p:cNvSpPr/>
          <p:nvPr/>
        </p:nvSpPr>
        <p:spPr>
          <a:xfrm>
            <a:off x="502920" y="658440"/>
            <a:ext cx="11155320" cy="22680"/>
          </a:xfrm>
          <a:prstGeom prst="rect">
            <a:avLst/>
          </a:prstGeom>
          <a:solidFill>
            <a:srgbClr val="36D3D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1960" rIns="90000" bIns="-2196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4"/>
          <p:cNvSpPr/>
          <p:nvPr/>
        </p:nvSpPr>
        <p:spPr>
          <a:xfrm>
            <a:off x="594360" y="8960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Example Sales Data Cube</a:t>
            </a:r>
            <a:endParaRPr lang="en-IN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Rounded Rectangle 5"/>
          <p:cNvSpPr/>
          <p:nvPr/>
        </p:nvSpPr>
        <p:spPr>
          <a:xfrm>
            <a:off x="2397240" y="2240280"/>
            <a:ext cx="2331360" cy="159984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solidFill>
              <a:srgbClr val="36D3D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36D3D0"/>
                </a:solidFill>
                <a:effectLst/>
                <a:uFillTx/>
                <a:latin typeface="Aptos"/>
              </a:rPr>
              <a:t>TIME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Year</a:t>
            </a:r>
            <a:br>
              <a:rPr sz="1200"/>
            </a:br>
            <a:r>
              <a:rPr lang="en-US" sz="12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Quarter</a:t>
            </a:r>
            <a:br>
              <a:rPr sz="1200"/>
            </a:br>
            <a:r>
              <a:rPr lang="en-US" sz="12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Month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6"/>
          <p:cNvSpPr/>
          <p:nvPr/>
        </p:nvSpPr>
        <p:spPr>
          <a:xfrm>
            <a:off x="4728960" y="2761560"/>
            <a:ext cx="200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BE5C"/>
                </a:solidFill>
                <a:effectLst/>
                <a:uFillTx/>
                <a:latin typeface="Aptos"/>
              </a:rPr>
              <a:t>➜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Rounded Rectangle 7"/>
          <p:cNvSpPr/>
          <p:nvPr/>
        </p:nvSpPr>
        <p:spPr>
          <a:xfrm>
            <a:off x="4929840" y="2240280"/>
            <a:ext cx="2331360" cy="159984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solidFill>
              <a:srgbClr val="36D3D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36D3D0"/>
                </a:solidFill>
                <a:effectLst/>
                <a:uFillTx/>
                <a:latin typeface="Aptos"/>
              </a:rPr>
              <a:t>PRODUCT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Category</a:t>
            </a:r>
            <a:br>
              <a:rPr sz="1200"/>
            </a:br>
            <a:r>
              <a:rPr lang="en-US" sz="12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Product</a:t>
            </a:r>
            <a:br>
              <a:rPr sz="1200"/>
            </a:br>
            <a:r>
              <a:rPr lang="en-US" sz="12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Brand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8"/>
          <p:cNvSpPr/>
          <p:nvPr/>
        </p:nvSpPr>
        <p:spPr>
          <a:xfrm>
            <a:off x="7261560" y="2761560"/>
            <a:ext cx="200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BE5C"/>
                </a:solidFill>
                <a:effectLst/>
                <a:uFillTx/>
                <a:latin typeface="Aptos"/>
              </a:rPr>
              <a:t>➜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Rounded Rectangle 9"/>
          <p:cNvSpPr/>
          <p:nvPr/>
        </p:nvSpPr>
        <p:spPr>
          <a:xfrm>
            <a:off x="7462800" y="2240280"/>
            <a:ext cx="2331360" cy="159984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solidFill>
              <a:srgbClr val="36D3D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36D3D0"/>
                </a:solidFill>
                <a:effectLst/>
                <a:uFillTx/>
                <a:latin typeface="Aptos"/>
              </a:rPr>
              <a:t>LOCATION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Region</a:t>
            </a:r>
            <a:br>
              <a:rPr sz="1200"/>
            </a:br>
            <a:r>
              <a:rPr lang="en-US" sz="12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City</a:t>
            </a:r>
            <a:br>
              <a:rPr sz="1200"/>
            </a:br>
            <a:r>
              <a:rPr lang="en-US" sz="12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Store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10"/>
          <p:cNvSpPr/>
          <p:nvPr/>
        </p:nvSpPr>
        <p:spPr>
          <a:xfrm>
            <a:off x="914400" y="4572000"/>
            <a:ext cx="10332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B2C0D5"/>
                </a:solidFill>
                <a:effectLst/>
                <a:uFillTx/>
                <a:latin typeface="Aptos"/>
              </a:rPr>
              <a:t>Measure at the intersection: Sales Amount, Quantity, or Profit. Analyze one measure across dimensions.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Box 1"/>
          <p:cNvSpPr/>
          <p:nvPr/>
        </p:nvSpPr>
        <p:spPr>
          <a:xfrm>
            <a:off x="502920" y="228600"/>
            <a:ext cx="7772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6D3D0"/>
                </a:solidFill>
                <a:effectLst/>
                <a:uFillTx/>
                <a:latin typeface="Aptos"/>
              </a:rPr>
              <a:t>TOPIC 2 • OPERATIONS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2"/>
          <p:cNvSpPr/>
          <p:nvPr/>
        </p:nvSpPr>
        <p:spPr>
          <a:xfrm>
            <a:off x="10972800" y="228600"/>
            <a:ext cx="685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B2C0D5"/>
                </a:solidFill>
                <a:effectLst/>
                <a:uFillTx/>
                <a:latin typeface="Aptos"/>
              </a:rPr>
              <a:t>09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Rectangle 3"/>
          <p:cNvSpPr/>
          <p:nvPr/>
        </p:nvSpPr>
        <p:spPr>
          <a:xfrm>
            <a:off x="502920" y="658440"/>
            <a:ext cx="11155320" cy="22680"/>
          </a:xfrm>
          <a:prstGeom prst="rect">
            <a:avLst/>
          </a:prstGeom>
          <a:solidFill>
            <a:srgbClr val="36D3D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1960" rIns="90000" bIns="-2196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4"/>
          <p:cNvSpPr/>
          <p:nvPr/>
        </p:nvSpPr>
        <p:spPr>
          <a:xfrm>
            <a:off x="594360" y="896040"/>
            <a:ext cx="10972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Five Common OLAP Operations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5"/>
          <p:cNvSpPr/>
          <p:nvPr/>
        </p:nvSpPr>
        <p:spPr>
          <a:xfrm>
            <a:off x="640080" y="1536120"/>
            <a:ext cx="10881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36D3D0"/>
                </a:solidFill>
                <a:effectLst/>
                <a:uFillTx/>
                <a:latin typeface="Aptos"/>
              </a:rPr>
              <a:t>How analysts explore a cube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Rounded Rectangle 6"/>
          <p:cNvSpPr/>
          <p:nvPr/>
        </p:nvSpPr>
        <p:spPr>
          <a:xfrm>
            <a:off x="685800" y="2057400"/>
            <a:ext cx="10789560" cy="62136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solidFill>
              <a:srgbClr val="30436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45000" r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Roll-up — summarize detail, for example monthly sales into yearly sales.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Rounded Rectangle 7"/>
          <p:cNvSpPr/>
          <p:nvPr/>
        </p:nvSpPr>
        <p:spPr>
          <a:xfrm>
            <a:off x="685800" y="2862000"/>
            <a:ext cx="10789560" cy="62136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solidFill>
              <a:srgbClr val="30436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45000" r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Drill-down — move from yearly totals to quarters or months.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Rounded Rectangle 8"/>
          <p:cNvSpPr/>
          <p:nvPr/>
        </p:nvSpPr>
        <p:spPr>
          <a:xfrm>
            <a:off x="685800" y="3666600"/>
            <a:ext cx="10789560" cy="62136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solidFill>
              <a:srgbClr val="30436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45000" r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Slice — select one value, such as Year = 2025.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Rounded Rectangle 9"/>
          <p:cNvSpPr/>
          <p:nvPr/>
        </p:nvSpPr>
        <p:spPr>
          <a:xfrm>
            <a:off x="685800" y="4471560"/>
            <a:ext cx="10789560" cy="62136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solidFill>
              <a:srgbClr val="30436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45000" r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Dice — select a subset using multiple filters, such as one year, region, and product category.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Rounded Rectangle 10"/>
          <p:cNvSpPr/>
          <p:nvPr/>
        </p:nvSpPr>
        <p:spPr>
          <a:xfrm>
            <a:off x="685800" y="5276160"/>
            <a:ext cx="10789560" cy="62136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solidFill>
              <a:srgbClr val="30436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45000" r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Pivot — rotate the view to compare dimensions in different row/column arrangements.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Box 1"/>
          <p:cNvSpPr/>
          <p:nvPr/>
        </p:nvSpPr>
        <p:spPr>
          <a:xfrm>
            <a:off x="502920" y="228600"/>
            <a:ext cx="7772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6D3D0"/>
                </a:solidFill>
                <a:effectLst/>
                <a:uFillTx/>
                <a:latin typeface="Aptos"/>
              </a:rPr>
              <a:t>TOPIC 2 • EXAMPLE &amp; TOOLS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2"/>
          <p:cNvSpPr/>
          <p:nvPr/>
        </p:nvSpPr>
        <p:spPr>
          <a:xfrm>
            <a:off x="10972800" y="228600"/>
            <a:ext cx="685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B2C0D5"/>
                </a:solidFill>
                <a:effectLst/>
                <a:uFillTx/>
                <a:latin typeface="Aptos"/>
              </a:rPr>
              <a:t>10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Rectangle 3"/>
          <p:cNvSpPr/>
          <p:nvPr/>
        </p:nvSpPr>
        <p:spPr>
          <a:xfrm>
            <a:off x="502920" y="658440"/>
            <a:ext cx="11155320" cy="22680"/>
          </a:xfrm>
          <a:prstGeom prst="rect">
            <a:avLst/>
          </a:prstGeom>
          <a:solidFill>
            <a:srgbClr val="36D3D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1960" rIns="90000" bIns="-2196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TextBox 4"/>
          <p:cNvSpPr/>
          <p:nvPr/>
        </p:nvSpPr>
        <p:spPr>
          <a:xfrm>
            <a:off x="594360" y="896040"/>
            <a:ext cx="10972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OLAP Example and Tools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5"/>
          <p:cNvSpPr/>
          <p:nvPr/>
        </p:nvSpPr>
        <p:spPr>
          <a:xfrm>
            <a:off x="640080" y="1536120"/>
            <a:ext cx="10881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36D3D0"/>
                </a:solidFill>
                <a:effectLst/>
                <a:uFillTx/>
                <a:latin typeface="Aptos"/>
              </a:rPr>
              <a:t>Applications in analytics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Rounded Rectangle 6"/>
          <p:cNvSpPr/>
          <p:nvPr/>
        </p:nvSpPr>
        <p:spPr>
          <a:xfrm>
            <a:off x="685800" y="2057400"/>
            <a:ext cx="10789560" cy="62136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solidFill>
              <a:srgbClr val="30436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45000" r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Retail: compare sales by product category, region, and quarter to identify strong and weak areas.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Rounded Rectangle 7"/>
          <p:cNvSpPr/>
          <p:nvPr/>
        </p:nvSpPr>
        <p:spPr>
          <a:xfrm>
            <a:off x="685800" y="2862000"/>
            <a:ext cx="10789560" cy="62136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solidFill>
              <a:srgbClr val="30436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45000" r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Banking: review profitability by branch, product, and time period.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Rounded Rectangle 8"/>
          <p:cNvSpPr/>
          <p:nvPr/>
        </p:nvSpPr>
        <p:spPr>
          <a:xfrm>
            <a:off x="685800" y="3666600"/>
            <a:ext cx="10789560" cy="62136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solidFill>
              <a:srgbClr val="30436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45000" r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Healthcare: analyze patient admissions by department and season.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Rounded Rectangle 9"/>
          <p:cNvSpPr/>
          <p:nvPr/>
        </p:nvSpPr>
        <p:spPr>
          <a:xfrm>
            <a:off x="685800" y="4471560"/>
            <a:ext cx="10789560" cy="62136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solidFill>
              <a:srgbClr val="30436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45000" r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Tools: Excel PivotTables, Microsoft SSAS, Apache Kylin, Mondrian, and KNIME workflows.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Box 1"/>
          <p:cNvSpPr/>
          <p:nvPr/>
        </p:nvSpPr>
        <p:spPr>
          <a:xfrm>
            <a:off x="502920" y="228600"/>
            <a:ext cx="7772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6D3D0"/>
                </a:solidFill>
                <a:effectLst/>
                <a:uFillTx/>
                <a:latin typeface="Aptos"/>
              </a:rPr>
              <a:t>TOPIC 3 • DIMENSIONAL MODELING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2"/>
          <p:cNvSpPr/>
          <p:nvPr/>
        </p:nvSpPr>
        <p:spPr>
          <a:xfrm>
            <a:off x="10972800" y="228600"/>
            <a:ext cx="685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B2C0D5"/>
                </a:solidFill>
                <a:effectLst/>
                <a:uFillTx/>
                <a:latin typeface="Aptos"/>
              </a:rPr>
              <a:t>11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Rectangle 3"/>
          <p:cNvSpPr/>
          <p:nvPr/>
        </p:nvSpPr>
        <p:spPr>
          <a:xfrm>
            <a:off x="502920" y="658440"/>
            <a:ext cx="11155320" cy="22680"/>
          </a:xfrm>
          <a:prstGeom prst="rect">
            <a:avLst/>
          </a:prstGeom>
          <a:solidFill>
            <a:srgbClr val="36D3D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1960" rIns="90000" bIns="-2196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Box 4"/>
          <p:cNvSpPr/>
          <p:nvPr/>
        </p:nvSpPr>
        <p:spPr>
          <a:xfrm>
            <a:off x="594360" y="896040"/>
            <a:ext cx="10972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Dimensional Data Modeling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5"/>
          <p:cNvSpPr/>
          <p:nvPr/>
        </p:nvSpPr>
        <p:spPr>
          <a:xfrm>
            <a:off x="640080" y="1536120"/>
            <a:ext cx="10881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36D3D0"/>
                </a:solidFill>
                <a:effectLst/>
                <a:uFillTx/>
                <a:latin typeface="Aptos"/>
              </a:rPr>
              <a:t>Facts = measures; dimensions = context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Rounded Rectangle 6"/>
          <p:cNvSpPr/>
          <p:nvPr/>
        </p:nvSpPr>
        <p:spPr>
          <a:xfrm>
            <a:off x="685800" y="2057400"/>
            <a:ext cx="10789560" cy="62136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solidFill>
              <a:srgbClr val="30436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45000" r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Dimensional modeling structures warehouse data so business questions can be answered efficiently.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Rounded Rectangle 7"/>
          <p:cNvSpPr/>
          <p:nvPr/>
        </p:nvSpPr>
        <p:spPr>
          <a:xfrm>
            <a:off x="685800" y="2862000"/>
            <a:ext cx="10789560" cy="62136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solidFill>
              <a:srgbClr val="30436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45000" r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Fact tables store measurable events and foreign keys, such as sales amount and quantity.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Rounded Rectangle 8"/>
          <p:cNvSpPr/>
          <p:nvPr/>
        </p:nvSpPr>
        <p:spPr>
          <a:xfrm>
            <a:off x="685800" y="3666600"/>
            <a:ext cx="10789560" cy="62136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solidFill>
              <a:srgbClr val="30436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45000" r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Dimension tables provide descriptive context, such as product, customer, store, and date.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Rounded Rectangle 9"/>
          <p:cNvSpPr/>
          <p:nvPr/>
        </p:nvSpPr>
        <p:spPr>
          <a:xfrm>
            <a:off x="685800" y="4471560"/>
            <a:ext cx="10789560" cy="62136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solidFill>
              <a:srgbClr val="30436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45000" r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Grain defines exactly what one row in a fact table represents.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Box 1"/>
          <p:cNvSpPr/>
          <p:nvPr/>
        </p:nvSpPr>
        <p:spPr>
          <a:xfrm>
            <a:off x="502920" y="228600"/>
            <a:ext cx="7772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6D3D0"/>
                </a:solidFill>
                <a:effectLst/>
                <a:uFillTx/>
                <a:latin typeface="Aptos"/>
              </a:rPr>
              <a:t>TOPIC 3 • SCHEMA DESIGN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2"/>
          <p:cNvSpPr/>
          <p:nvPr/>
        </p:nvSpPr>
        <p:spPr>
          <a:xfrm>
            <a:off x="10972800" y="228600"/>
            <a:ext cx="685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B2C0D5"/>
                </a:solidFill>
                <a:effectLst/>
                <a:uFillTx/>
                <a:latin typeface="Aptos"/>
              </a:rPr>
              <a:t>12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Rectangle 3"/>
          <p:cNvSpPr/>
          <p:nvPr/>
        </p:nvSpPr>
        <p:spPr>
          <a:xfrm>
            <a:off x="502920" y="658440"/>
            <a:ext cx="11155320" cy="22680"/>
          </a:xfrm>
          <a:prstGeom prst="rect">
            <a:avLst/>
          </a:prstGeom>
          <a:solidFill>
            <a:srgbClr val="36D3D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1960" rIns="90000" bIns="-2196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Box 4"/>
          <p:cNvSpPr/>
          <p:nvPr/>
        </p:nvSpPr>
        <p:spPr>
          <a:xfrm>
            <a:off x="594360" y="8960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Star Schema: Retail Sales</a:t>
            </a:r>
            <a:endParaRPr lang="en-IN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Rounded Rectangle 5"/>
          <p:cNvSpPr/>
          <p:nvPr/>
        </p:nvSpPr>
        <p:spPr>
          <a:xfrm>
            <a:off x="1130760" y="2240280"/>
            <a:ext cx="2331360" cy="159984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solidFill>
              <a:srgbClr val="36D3D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36D3D0"/>
                </a:solidFill>
                <a:effectLst/>
                <a:uFillTx/>
                <a:latin typeface="Aptos"/>
              </a:rPr>
              <a:t>Dim_Date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Date key</a:t>
            </a:r>
            <a:br>
              <a:rPr sz="1200"/>
            </a:br>
            <a:r>
              <a:rPr lang="en-US" sz="12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Month / Quarter / Year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6"/>
          <p:cNvSpPr/>
          <p:nvPr/>
        </p:nvSpPr>
        <p:spPr>
          <a:xfrm>
            <a:off x="3462480" y="2761560"/>
            <a:ext cx="200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BE5C"/>
                </a:solidFill>
                <a:effectLst/>
                <a:uFillTx/>
                <a:latin typeface="Aptos"/>
              </a:rPr>
              <a:t>➜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Rounded Rectangle 7"/>
          <p:cNvSpPr/>
          <p:nvPr/>
        </p:nvSpPr>
        <p:spPr>
          <a:xfrm>
            <a:off x="3663720" y="2240280"/>
            <a:ext cx="2331360" cy="159984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solidFill>
              <a:srgbClr val="36D3D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36D3D0"/>
                </a:solidFill>
                <a:effectLst/>
                <a:uFillTx/>
                <a:latin typeface="Aptos"/>
              </a:rPr>
              <a:t>Dim_Product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Product key</a:t>
            </a:r>
            <a:br>
              <a:rPr sz="1200"/>
            </a:br>
            <a:r>
              <a:rPr lang="en-US" sz="12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Name / Category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8"/>
          <p:cNvSpPr/>
          <p:nvPr/>
        </p:nvSpPr>
        <p:spPr>
          <a:xfrm>
            <a:off x="5995440" y="2761560"/>
            <a:ext cx="200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BE5C"/>
                </a:solidFill>
                <a:effectLst/>
                <a:uFillTx/>
                <a:latin typeface="Aptos"/>
              </a:rPr>
              <a:t>➜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Rounded Rectangle 9"/>
          <p:cNvSpPr/>
          <p:nvPr/>
        </p:nvSpPr>
        <p:spPr>
          <a:xfrm>
            <a:off x="6196320" y="2240280"/>
            <a:ext cx="2331360" cy="159984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solidFill>
              <a:srgbClr val="36D3D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36D3D0"/>
                </a:solidFill>
                <a:effectLst/>
                <a:uFillTx/>
                <a:latin typeface="Aptos"/>
              </a:rPr>
              <a:t>Fact_Sales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Date key + Product key</a:t>
            </a:r>
            <a:br>
              <a:rPr sz="1200"/>
            </a:br>
            <a:r>
              <a:rPr lang="en-US" sz="12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Qty / Sales Amount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10"/>
          <p:cNvSpPr/>
          <p:nvPr/>
        </p:nvSpPr>
        <p:spPr>
          <a:xfrm>
            <a:off x="8528040" y="2761560"/>
            <a:ext cx="200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BE5C"/>
                </a:solidFill>
                <a:effectLst/>
                <a:uFillTx/>
                <a:latin typeface="Aptos"/>
              </a:rPr>
              <a:t>➜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Rounded Rectangle 11"/>
          <p:cNvSpPr/>
          <p:nvPr/>
        </p:nvSpPr>
        <p:spPr>
          <a:xfrm>
            <a:off x="8729280" y="2240280"/>
            <a:ext cx="2331360" cy="159984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solidFill>
              <a:srgbClr val="36D3D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36D3D0"/>
                </a:solidFill>
                <a:effectLst/>
                <a:uFillTx/>
                <a:latin typeface="Aptos"/>
              </a:rPr>
              <a:t>Dim_Store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Store key</a:t>
            </a:r>
            <a:br>
              <a:rPr sz="1200"/>
            </a:br>
            <a:r>
              <a:rPr lang="en-US" sz="12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City / Region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12"/>
          <p:cNvSpPr/>
          <p:nvPr/>
        </p:nvSpPr>
        <p:spPr>
          <a:xfrm>
            <a:off x="914400" y="4572000"/>
            <a:ext cx="10332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B2C0D5"/>
                </a:solidFill>
                <a:effectLst/>
                <a:uFillTx/>
                <a:latin typeface="Aptos"/>
              </a:rPr>
              <a:t>A central fact table connects to descriptive dimensions. This star layout is easy to understand and query.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Box 1"/>
          <p:cNvSpPr/>
          <p:nvPr/>
        </p:nvSpPr>
        <p:spPr>
          <a:xfrm>
            <a:off x="502920" y="228600"/>
            <a:ext cx="7772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6D3D0"/>
                </a:solidFill>
                <a:effectLst/>
                <a:uFillTx/>
                <a:latin typeface="Aptos"/>
              </a:rPr>
              <a:t>TOPIC 3 • COMPARISON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2"/>
          <p:cNvSpPr/>
          <p:nvPr/>
        </p:nvSpPr>
        <p:spPr>
          <a:xfrm>
            <a:off x="10972800" y="228600"/>
            <a:ext cx="685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B2C0D5"/>
                </a:solidFill>
                <a:effectLst/>
                <a:uFillTx/>
                <a:latin typeface="Aptos"/>
              </a:rPr>
              <a:t>13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Rectangle 3"/>
          <p:cNvSpPr/>
          <p:nvPr/>
        </p:nvSpPr>
        <p:spPr>
          <a:xfrm>
            <a:off x="502920" y="658440"/>
            <a:ext cx="11155320" cy="22680"/>
          </a:xfrm>
          <a:prstGeom prst="rect">
            <a:avLst/>
          </a:prstGeom>
          <a:solidFill>
            <a:srgbClr val="36D3D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1960" rIns="90000" bIns="-2196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TextBox 4"/>
          <p:cNvSpPr/>
          <p:nvPr/>
        </p:nvSpPr>
        <p:spPr>
          <a:xfrm>
            <a:off x="594360" y="896040"/>
            <a:ext cx="10972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Star Schema vs Snowflake Schema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5"/>
          <p:cNvSpPr/>
          <p:nvPr/>
        </p:nvSpPr>
        <p:spPr>
          <a:xfrm>
            <a:off x="640080" y="1536120"/>
            <a:ext cx="10881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36D3D0"/>
                </a:solidFill>
                <a:effectLst/>
                <a:uFillTx/>
                <a:latin typeface="Aptos"/>
              </a:rPr>
              <a:t>Schema selection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Rounded Rectangle 6"/>
          <p:cNvSpPr/>
          <p:nvPr/>
        </p:nvSpPr>
        <p:spPr>
          <a:xfrm>
            <a:off x="685800" y="2057400"/>
            <a:ext cx="10789560" cy="62136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solidFill>
              <a:srgbClr val="30436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45000" r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Star schema: dimensions are denormalized; fewer joins and simpler reporting queries.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Rounded Rectangle 7"/>
          <p:cNvSpPr/>
          <p:nvPr/>
        </p:nvSpPr>
        <p:spPr>
          <a:xfrm>
            <a:off x="685800" y="2862000"/>
            <a:ext cx="10789560" cy="62136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solidFill>
              <a:srgbClr val="30436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45000" r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Snowflake schema: dimensions are normalized into related sub-tables; less redundancy but more joins.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Rounded Rectangle 8"/>
          <p:cNvSpPr/>
          <p:nvPr/>
        </p:nvSpPr>
        <p:spPr>
          <a:xfrm>
            <a:off x="685800" y="3666600"/>
            <a:ext cx="10789560" cy="62136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solidFill>
              <a:srgbClr val="30436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45000" r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Choose star when ease of use and reporting speed are priorities.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Rounded Rectangle 9"/>
          <p:cNvSpPr/>
          <p:nvPr/>
        </p:nvSpPr>
        <p:spPr>
          <a:xfrm>
            <a:off x="685800" y="4471560"/>
            <a:ext cx="10789560" cy="62136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solidFill>
              <a:srgbClr val="30436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45000" r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Choose snowflake when normalized dimension hierarchies and reduced duplication are important.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Box 1"/>
          <p:cNvSpPr/>
          <p:nvPr/>
        </p:nvSpPr>
        <p:spPr>
          <a:xfrm>
            <a:off x="502920" y="228600"/>
            <a:ext cx="7772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6D3D0"/>
                </a:solidFill>
                <a:effectLst/>
                <a:uFillTx/>
                <a:latin typeface="Aptos"/>
              </a:rPr>
              <a:t>SUMMARY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2"/>
          <p:cNvSpPr/>
          <p:nvPr/>
        </p:nvSpPr>
        <p:spPr>
          <a:xfrm>
            <a:off x="10972800" y="228600"/>
            <a:ext cx="685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B2C0D5"/>
                </a:solidFill>
                <a:effectLst/>
                <a:uFillTx/>
                <a:latin typeface="Aptos"/>
              </a:rPr>
              <a:t>14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Rectangle 3"/>
          <p:cNvSpPr/>
          <p:nvPr/>
        </p:nvSpPr>
        <p:spPr>
          <a:xfrm>
            <a:off x="502920" y="658440"/>
            <a:ext cx="11155320" cy="22680"/>
          </a:xfrm>
          <a:prstGeom prst="rect">
            <a:avLst/>
          </a:prstGeom>
          <a:solidFill>
            <a:srgbClr val="36D3D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1960" rIns="90000" bIns="-2196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TextBox 4"/>
          <p:cNvSpPr/>
          <p:nvPr/>
        </p:nvSpPr>
        <p:spPr>
          <a:xfrm>
            <a:off x="594360" y="896040"/>
            <a:ext cx="10972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Conclusion and Future Scope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5"/>
          <p:cNvSpPr/>
          <p:nvPr/>
        </p:nvSpPr>
        <p:spPr>
          <a:xfrm>
            <a:off x="640080" y="1536120"/>
            <a:ext cx="10881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36D3D0"/>
                </a:solidFill>
                <a:effectLst/>
                <a:uFillTx/>
                <a:latin typeface="Aptos"/>
              </a:rPr>
              <a:t>Key takeaways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Rounded Rectangle 6"/>
          <p:cNvSpPr/>
          <p:nvPr/>
        </p:nvSpPr>
        <p:spPr>
          <a:xfrm>
            <a:off x="685800" y="2057400"/>
            <a:ext cx="10789560" cy="62136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solidFill>
              <a:srgbClr val="30436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45000" r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A data warehouse integrates historical data and supports consistent analysis through a tiered architecture.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Rounded Rectangle 7"/>
          <p:cNvSpPr/>
          <p:nvPr/>
        </p:nvSpPr>
        <p:spPr>
          <a:xfrm>
            <a:off x="685800" y="2862000"/>
            <a:ext cx="10789560" cy="62136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solidFill>
              <a:srgbClr val="30436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45000" r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OLAP cubes help users summarize, filter, drill into, and pivot multidimensional data.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Rounded Rectangle 8"/>
          <p:cNvSpPr/>
          <p:nvPr/>
        </p:nvSpPr>
        <p:spPr>
          <a:xfrm>
            <a:off x="685800" y="3666600"/>
            <a:ext cx="10789560" cy="62136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solidFill>
              <a:srgbClr val="30436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45000" r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Dimensional models organize facts and dimensions; a clearly defined grain is essential.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Rounded Rectangle 9"/>
          <p:cNvSpPr/>
          <p:nvPr/>
        </p:nvSpPr>
        <p:spPr>
          <a:xfrm>
            <a:off x="685800" y="4471560"/>
            <a:ext cx="10789560" cy="62136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solidFill>
              <a:srgbClr val="30436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45000" r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Future scope: cloud warehouses, real-time ETL/ELT, automated data-quality checks, and AI-assisted analytics.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extBox 1"/>
          <p:cNvSpPr/>
          <p:nvPr/>
        </p:nvSpPr>
        <p:spPr>
          <a:xfrm>
            <a:off x="502920" y="228600"/>
            <a:ext cx="7772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6D3D0"/>
                </a:solidFill>
                <a:effectLst/>
                <a:uFillTx/>
                <a:latin typeface="Aptos"/>
              </a:rPr>
              <a:t>REFERENCES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2"/>
          <p:cNvSpPr/>
          <p:nvPr/>
        </p:nvSpPr>
        <p:spPr>
          <a:xfrm>
            <a:off x="10972800" y="228600"/>
            <a:ext cx="685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B2C0D5"/>
                </a:solidFill>
                <a:effectLst/>
                <a:uFillTx/>
                <a:latin typeface="Aptos"/>
              </a:rPr>
              <a:t>15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Rectangle 3"/>
          <p:cNvSpPr/>
          <p:nvPr/>
        </p:nvSpPr>
        <p:spPr>
          <a:xfrm>
            <a:off x="502920" y="658440"/>
            <a:ext cx="11155320" cy="22680"/>
          </a:xfrm>
          <a:prstGeom prst="rect">
            <a:avLst/>
          </a:prstGeom>
          <a:solidFill>
            <a:srgbClr val="36D3D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1960" rIns="90000" bIns="-2196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5" name="TextBox 4"/>
          <p:cNvSpPr/>
          <p:nvPr/>
        </p:nvSpPr>
        <p:spPr>
          <a:xfrm>
            <a:off x="594360" y="896040"/>
            <a:ext cx="10972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References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5"/>
          <p:cNvSpPr/>
          <p:nvPr/>
        </p:nvSpPr>
        <p:spPr>
          <a:xfrm>
            <a:off x="640080" y="1536120"/>
            <a:ext cx="10881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36D3D0"/>
                </a:solidFill>
                <a:effectLst/>
                <a:uFillTx/>
                <a:latin typeface="Aptos"/>
              </a:rPr>
              <a:t>Prepared for technical presentation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Rounded Rectangle 6"/>
          <p:cNvSpPr/>
          <p:nvPr/>
        </p:nvSpPr>
        <p:spPr>
          <a:xfrm>
            <a:off x="685800" y="2057400"/>
            <a:ext cx="10789560" cy="62136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solidFill>
              <a:srgbClr val="30436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45000" r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CSA16 — Data Warehousing and Data Mining, Assessment Tool 2 PDF (provided course document).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Rounded Rectangle 7"/>
          <p:cNvSpPr/>
          <p:nvPr/>
        </p:nvSpPr>
        <p:spPr>
          <a:xfrm>
            <a:off x="685800" y="2862000"/>
            <a:ext cx="10789560" cy="62136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solidFill>
              <a:srgbClr val="30436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45000" r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CO1 AT2 PPT — reference presentation structure and visual style (provided example deck).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Rounded Rectangle 8"/>
          <p:cNvSpPr/>
          <p:nvPr/>
        </p:nvSpPr>
        <p:spPr>
          <a:xfrm>
            <a:off x="685800" y="3666600"/>
            <a:ext cx="10789560" cy="621360"/>
          </a:xfrm>
          <a:prstGeom prst="roundRect">
            <a:avLst>
              <a:gd name="adj" fmla="val 16667"/>
            </a:avLst>
          </a:prstGeom>
          <a:solidFill>
            <a:srgbClr val="182742"/>
          </a:solidFill>
          <a:ln>
            <a:solidFill>
              <a:srgbClr val="30436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45000" r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Topic coverage follows the PDF focus areas: Data Warehouse Architecture, OLAP and Data Cubes, and Dimensional Data Modeling.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LibreOffice/26.8.1.1$Windows_X86_64 LibreOffice_project/bf6ef2662401c7d6dce671ab4deb26ee0af3a7c1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2026-10-21T16:31:40Z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